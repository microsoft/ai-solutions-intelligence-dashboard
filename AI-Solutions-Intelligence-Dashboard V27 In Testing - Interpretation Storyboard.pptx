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2B174D"/>
          </a:solidFill>
          <a:ln w="12700">
            <a:solidFill>
              <a:srgbClr val="2B17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412480" y="-640080"/>
            <a:ext cx="4389120" cy="4389120"/>
          </a:xfrm>
          <a:prstGeom prst="arc">
            <a:avLst/>
          </a:prstGeom>
          <a:solidFill>
            <a:srgbClr val="E63B93">
              <a:alpha val="66000"/>
            </a:srgbClr>
          </a:solidFill>
          <a:ln w="12700">
            <a:solidFill>
              <a:srgbClr val="E63B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900000">
            <a:off x="9692640" y="5577840"/>
            <a:ext cx="3840480" cy="3840480"/>
          </a:xfrm>
          <a:prstGeom prst="arc">
            <a:avLst/>
          </a:prstGeom>
          <a:solidFill>
            <a:srgbClr val="00A9A5">
              <a:alpha val="76000"/>
            </a:srgbClr>
          </a:solidFill>
          <a:ln w="12700">
            <a:solidFill>
              <a:srgbClr val="00A9A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03504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7208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Solutions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Dashboard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C9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 Storyboard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352958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page-by-page guide to the questions each visual answers, what the signals may mean, and what to verify before acting.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910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the template and documentation 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519379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316523"/>
            <a:ext cx="5349240" cy="2972225"/>
          </a:xfrm>
          <a:prstGeom prst="roundRect">
            <a:avLst>
              <a:gd name="adj" fmla="val 1231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13" name="Image 0" descr="C:\Users\luzlorenz\.scout\copilot\session-state\d736585d-e855-42a4-847d-31abb918836c\files\AI-Solutions-Intelligence-Dashboard\images\v27-report-pages\01-executive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62243"/>
            <a:ext cx="5257800" cy="288078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09360" y="4307037"/>
            <a:ext cx="5257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6355080" y="4882896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shown use deterministic fabricated sample data. This experimental template is an analysis aid, not a sole source of truth for licensing, security, privacy, legal, compliance, personnel, or procurement decisions.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6355080" y="5943600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updated September 5,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four questions that matter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 before opening a detail page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24128"/>
            <a:ext cx="5394960" cy="2176272"/>
          </a:xfrm>
          <a:prstGeom prst="roundRect">
            <a:avLst>
              <a:gd name="adj" fmla="val 3361"/>
            </a:avLst>
          </a:prstGeom>
          <a:solidFill>
            <a:srgbClr val="F0EBF7"/>
          </a:solidFill>
          <a:ln w="10160">
            <a:solidFill>
              <a:srgbClr val="E2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292608" cy="29260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2072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" y="11704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- Who is using AI, and how broadly?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554480"/>
            <a:ext cx="5029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active users, workforce adoption, department reach, and weekly activity together. Volume without population context can overstate broad adoption.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024128"/>
            <a:ext cx="5394960" cy="2176272"/>
          </a:xfrm>
          <a:prstGeom prst="roundRect">
            <a:avLst>
              <a:gd name="adj" fmla="val 3361"/>
            </a:avLst>
          </a:prstGeom>
          <a:solidFill>
            <a:srgbClr val="EEF5FC"/>
          </a:solidFill>
          <a:ln w="10160">
            <a:solidFill>
              <a:srgbClr val="E2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118872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22072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84848" y="11704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VALUE - Which surfaces are gaining traction?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5029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licensed users with observed activity by surface and department. Audit-derived prompt metrics are directional and can differ from official usage reports.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474720"/>
            <a:ext cx="5394960" cy="2176272"/>
          </a:xfrm>
          <a:prstGeom prst="roundRect">
            <a:avLst>
              <a:gd name="adj" fmla="val 3361"/>
            </a:avLst>
          </a:prstGeom>
          <a:solidFill>
            <a:srgbClr val="FCEEF6"/>
          </a:solidFill>
          <a:ln w="10160">
            <a:solidFill>
              <a:srgbClr val="E2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639312"/>
            <a:ext cx="292608" cy="292608"/>
          </a:xfrm>
          <a:prstGeom prst="ellipse">
            <a:avLst/>
          </a:prstGeom>
          <a:solidFill>
            <a:srgbClr val="E63B93"/>
          </a:solidFill>
          <a:ln w="12700">
            <a:solidFill>
              <a:srgbClr val="E63B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7131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" y="3621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- Which signals warrant review?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4005072"/>
            <a:ext cx="5029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shadow-tool classifications, consent risk, geo patterns, and file proximity to prioritize investigation. None of these signals proves misuse or data disclosure.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474720"/>
            <a:ext cx="5394960" cy="2176272"/>
          </a:xfrm>
          <a:prstGeom prst="roundRect">
            <a:avLst>
              <a:gd name="adj" fmla="val 3361"/>
            </a:avLst>
          </a:prstGeom>
          <a:solidFill>
            <a:srgbClr val="EAF8F7"/>
          </a:solidFill>
          <a:ln w="10160">
            <a:solidFill>
              <a:srgbClr val="E2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3639312"/>
            <a:ext cx="292608" cy="292608"/>
          </a:xfrm>
          <a:prstGeom prst="ellipse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7131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84848" y="36210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- What can the available sources support?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005072"/>
            <a:ext cx="5029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licenses, onboarding, connectors, permissions, retention, and reporting period before interpreting blanks or comparing values across pages.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595274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adoption and governance indicators frequently; revisit locally defined targets and source coverage on a scheduled review cadence.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storyboard is designed to do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87552"/>
            <a:ext cx="5486400" cy="5138928"/>
          </a:xfrm>
          <a:prstGeom prst="roundRect">
            <a:avLst>
              <a:gd name="adj" fmla="val 1601"/>
            </a:avLst>
          </a:prstGeom>
          <a:solidFill>
            <a:srgbClr val="F7F5FA"/>
          </a:solidFill>
          <a:ln w="10160">
            <a:solidFill>
              <a:srgbClr val="E4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9844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guide walks through the AI Solutions Intelligence Dashboard page by page. Every dashboard page is paired with four business questions, a careful interpretation, and a concrete next action.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505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D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page interpretation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98648"/>
            <a:ext cx="4892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callouts 1 through 4 to read each page in a consistent order. Begin with the question, use the interpretation to understand the limits of the metric, then complete the action before making a decision.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4142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quoting any value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526280"/>
            <a:ext cx="4892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active filters, reporting period, source coverage, confidence label, and denominator. Protect exports because they can contain user identifiers and other sensitive operational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060861"/>
            <a:ext cx="5047488" cy="2806893"/>
          </a:xfrm>
          <a:prstGeom prst="roundRect">
            <a:avLst>
              <a:gd name="adj" fmla="val 1303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12" name="Image 0" descr="C:\Users\luzlorenz\.scout\copilot\session-state\d736585d-e855-42a4-847d-31abb918836c\files\AI-Solutions-Intelligence-Dashboard\images\v27-report-pages\09-glossary-data-dictio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06581"/>
            <a:ext cx="4956048" cy="271545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0" y="3886043"/>
            <a:ext cx="4956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14" name="Shape 11"/>
          <p:cNvSpPr/>
          <p:nvPr/>
        </p:nvSpPr>
        <p:spPr>
          <a:xfrm>
            <a:off x="6922008" y="4105541"/>
            <a:ext cx="3913632" cy="2185646"/>
          </a:xfrm>
          <a:prstGeom prst="roundRect">
            <a:avLst>
              <a:gd name="adj" fmla="val 1673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15" name="Image 1" descr="C:\Users\luzlorenz\.scout\copilot\session-state\d736585d-e855-42a4-847d-31abb918836c\files\AI-Solutions-Intelligence-Dashboard\images\v27-report-pages\10-tier-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4151261"/>
            <a:ext cx="3822192" cy="20942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67728" y="6309475"/>
            <a:ext cx="3822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17" name="Text 13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an observed signal is not proof - and why that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evidence requires different action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170432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6776" y="1481328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6776" y="1513332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" y="19659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8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514600"/>
            <a:ext cx="19933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receives events, dimensions, and locally maintained catalog classifications from configured sources.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99816" y="2496312"/>
            <a:ext cx="283464" cy="475488"/>
          </a:xfrm>
          <a:prstGeom prst="chevron">
            <a:avLst/>
          </a:prstGeom>
          <a:solidFill>
            <a:srgbClr val="D8CEE8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1170432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0EBF7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481328"/>
            <a:ext cx="292608" cy="29260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513332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94176" y="19659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B2D8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94176" y="2514600"/>
            <a:ext cx="19933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summarize, estimate, or combine those records. Some are exact; others are approximations or behavioral signals.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2496312"/>
            <a:ext cx="283464" cy="475488"/>
          </a:xfrm>
          <a:prstGeom prst="chevron">
            <a:avLst/>
          </a:prstGeom>
          <a:solidFill>
            <a:srgbClr val="D8CEE8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170432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5784" y="1481328"/>
            <a:ext cx="292608" cy="292608"/>
          </a:xfrm>
          <a:prstGeom prst="ellipse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5784" y="1513332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83680" y="19659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9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2514600"/>
            <a:ext cx="19933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records, identity and device context, retention, connectors, and business purpose must be corroborated.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78824" y="2496312"/>
            <a:ext cx="283464" cy="475488"/>
          </a:xfrm>
          <a:prstGeom prst="chevron">
            <a:avLst/>
          </a:prstGeom>
          <a:solidFill>
            <a:srgbClr val="D8CEE8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98864" y="1170432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0EBF7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05288" y="1481328"/>
            <a:ext cx="292608" cy="292608"/>
          </a:xfrm>
          <a:prstGeom prst="ellipse">
            <a:avLst/>
          </a:prstGeom>
          <a:solidFill>
            <a:srgbClr val="E63B93"/>
          </a:solidFill>
          <a:ln w="12700">
            <a:solidFill>
              <a:srgbClr val="E63B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05288" y="1513332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473184" y="19659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3B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473184" y="2514600"/>
            <a:ext cx="19933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organizational incident, privacy, acceptable-use, licensing, procurement, and legal processes.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480060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FFF4E5"/>
          </a:solidFill>
          <a:ln w="12700">
            <a:solidFill>
              <a:srgbClr val="F4C5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9320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file proximity is timing correlation, not proof of upload; AI Upload MB is network volume, not content evidence; a high OAuth permission weight does not prove malicious intent; a catalog label does not independently establish a policy violation.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this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narrative from coverage to action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987552"/>
            <a:ext cx="5358384" cy="786384"/>
          </a:xfrm>
          <a:prstGeom prst="roundRect">
            <a:avLst>
              <a:gd name="adj" fmla="val 6977"/>
            </a:avLst>
          </a:prstGeom>
          <a:solidFill>
            <a:srgbClr val="F7F5FA"/>
          </a:solidFill>
          <a:ln w="1016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25296"/>
            <a:ext cx="292608" cy="29260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5730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9576" y="1115568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Comparison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15768" y="110642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which source systems and capabilities can populate.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975104"/>
            <a:ext cx="535838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8C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212848"/>
            <a:ext cx="292608" cy="29260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44852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79576" y="2103120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15768" y="209397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 on adoption, tool mix, and monthly direction.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5358384" cy="786384"/>
          </a:xfrm>
          <a:prstGeom prst="roundRect">
            <a:avLst>
              <a:gd name="adj" fmla="val 6977"/>
            </a:avLst>
          </a:prstGeom>
          <a:solidFill>
            <a:srgbClr val="F7F5FA"/>
          </a:solidFill>
          <a:ln w="10160">
            <a:solidFill>
              <a:srgbClr val="D8C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00400"/>
            <a:ext cx="292608" cy="29260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3240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9576" y="309067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Deep Dive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15768" y="308152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Microsoft 365 Copilot surfaces and reach.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535838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8C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187952"/>
            <a:ext cx="292608" cy="29260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1995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79576" y="4078224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Views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15768" y="40690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broad adoption from concentrated intensity.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4937760"/>
            <a:ext cx="5358384" cy="786384"/>
          </a:xfrm>
          <a:prstGeom prst="roundRect">
            <a:avLst>
              <a:gd name="adj" fmla="val 6977"/>
            </a:avLst>
          </a:prstGeom>
          <a:solidFill>
            <a:srgbClr val="F7F5FA"/>
          </a:solidFill>
          <a:ln w="10160">
            <a:solidFill>
              <a:srgbClr val="D8C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175504"/>
            <a:ext cx="292608" cy="29260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20750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79576" y="5065776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AI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15768" y="50566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observed third-party tools and local classifications.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63640" y="987552"/>
            <a:ext cx="535838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8C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8232" y="1225296"/>
            <a:ext cx="292608" cy="29260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125730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76288" y="1115568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 Risk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2480" y="110642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cross-signal patterns for corroboration.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1975104"/>
            <a:ext cx="5358384" cy="786384"/>
          </a:xfrm>
          <a:prstGeom prst="roundRect">
            <a:avLst>
              <a:gd name="adj" fmla="val 6977"/>
            </a:avLst>
          </a:prstGeom>
          <a:solidFill>
            <a:srgbClr val="F7F5FA"/>
          </a:solidFill>
          <a:ln w="10160">
            <a:solidFill>
              <a:srgbClr val="D8C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8232" y="2212848"/>
            <a:ext cx="292608" cy="29260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244852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76288" y="2103120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MDA Detail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12480" y="209397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optional App Governance and Cloud Discovery evidence.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2962656"/>
            <a:ext cx="535838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D8CE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28232" y="3200400"/>
            <a:ext cx="292608" cy="292608"/>
          </a:xfrm>
          <a:prstGeom prst="ellipse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323240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76288" y="309067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 &amp; Targets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412480" y="308152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observations with locally owned assumptions.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63640" y="3950208"/>
            <a:ext cx="5358384" cy="786384"/>
          </a:xfrm>
          <a:prstGeom prst="roundRect">
            <a:avLst>
              <a:gd name="adj" fmla="val 6977"/>
            </a:avLst>
          </a:prstGeom>
          <a:solidFill>
            <a:srgbClr val="F7F5FA"/>
          </a:solidFill>
          <a:ln w="10160">
            <a:solidFill>
              <a:srgbClr val="D8CE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28232" y="4187952"/>
            <a:ext cx="292608" cy="292608"/>
          </a:xfrm>
          <a:prstGeom prst="ellipse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421995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76288" y="4078224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412480" y="40690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definition and confidence before sharing a metric.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82512" y="5276088"/>
            <a:ext cx="4983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every review ask: Is the trend sustained? Is activity broad or concentrated? Which source limitation could change the interpretation? What evidence is required before action?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Frequently asked questions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answers to align on before a dashboard review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41832"/>
            <a:ext cx="10954512" cy="832104"/>
          </a:xfrm>
          <a:prstGeom prst="roundRect">
            <a:avLst>
              <a:gd name="adj" fmla="val 6593"/>
            </a:avLst>
          </a:prstGeom>
          <a:solidFill>
            <a:srgbClr val="F7F5FA"/>
          </a:solidFill>
          <a:ln w="8890">
            <a:solidFill>
              <a:srgbClr val="E5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170432"/>
            <a:ext cx="347472" cy="347472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21158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89888" y="108813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this dashboard?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5968" y="1060704"/>
            <a:ext cx="6903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Power BI template that combines source-dependent indicators for adoption, third-party AI activity, consent risk, off-hours and geo patterns, and optional MDA data.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10954512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8890">
            <a:solidFill>
              <a:srgbClr val="E5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203704"/>
            <a:ext cx="347472" cy="347472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2448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89888" y="212140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the data come from?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15968" y="2093976"/>
            <a:ext cx="6903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13-file CSV contract populated by Graph, Purview, Defender XDR, local catalog data, and optional Defender for Cloud Apps exports.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21792" y="3008376"/>
            <a:ext cx="10954512" cy="832104"/>
          </a:xfrm>
          <a:prstGeom prst="roundRect">
            <a:avLst>
              <a:gd name="adj" fmla="val 6593"/>
            </a:avLst>
          </a:prstGeom>
          <a:solidFill>
            <a:srgbClr val="F7F5FA"/>
          </a:solidFill>
          <a:ln w="8890">
            <a:solidFill>
              <a:srgbClr val="E5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236976"/>
            <a:ext cx="347472" cy="347472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2781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89888" y="315468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 my numbers look different?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15968" y="3127248"/>
            <a:ext cx="6903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slides use fabricated demo data. Tenant values depend on source coverage, filter context, reporting period, retention, identity mapping, and catalog choices.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621792" y="4041648"/>
            <a:ext cx="10954512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8890">
            <a:solidFill>
              <a:srgbClr val="E5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270248"/>
            <a:ext cx="347472" cy="347472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31139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89888" y="418795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often should I review it?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15968" y="4160520"/>
            <a:ext cx="6903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adoption and risk indicators on an agreed operating cadence. Review targets, ownership, and coverage whenever source or policy assumptions change.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621792" y="5074920"/>
            <a:ext cx="10954512" cy="832104"/>
          </a:xfrm>
          <a:prstGeom prst="roundRect">
            <a:avLst>
              <a:gd name="adj" fmla="val 6593"/>
            </a:avLst>
          </a:prstGeom>
          <a:solidFill>
            <a:srgbClr val="F7F5FA"/>
          </a:solidFill>
          <a:ln w="8890">
            <a:solidFill>
              <a:srgbClr val="E5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5303520"/>
            <a:ext cx="347472" cy="347472"/>
          </a:xfrm>
          <a:prstGeom prst="ellipse">
            <a:avLst/>
          </a:prstGeom>
          <a:solidFill>
            <a:srgbClr val="E63B93"/>
          </a:solidFill>
          <a:ln w="12700">
            <a:solidFill>
              <a:srgbClr val="E63B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34466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389888" y="522122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I do when a signal looks concerning?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15968" y="5193792"/>
            <a:ext cx="6903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original source record and business context. Follow established security, privacy, compliance, procurement, and personnel processes.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 to use when presenting the report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78408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78408"/>
            <a:ext cx="91440" cy="1298448"/>
          </a:xfrm>
          <a:prstGeom prst="rect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43000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453896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users observed in any configured AI activity source. Limited by available telemetry and identity resolution.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272784" y="978408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2784" y="978408"/>
            <a:ext cx="91440" cy="1298448"/>
          </a:xfrm>
          <a:prstGeom prst="rect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143000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Workforce Adoption 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1384" y="1453896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AI users divided by the report workforce denominator. Denominator quality depends on EntraUsers.csv.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94360" y="2551176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51176"/>
            <a:ext cx="91440" cy="1298448"/>
          </a:xfrm>
          <a:prstGeom prst="rect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15768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Adoption 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02666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 users with observed Copilot activity divided by licensed users. Audit-derived and directional.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272784" y="2551176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2551176"/>
            <a:ext cx="91440" cy="1298448"/>
          </a:xfrm>
          <a:prstGeom prst="rect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2715768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Days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01384" y="302666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dates with observed activity. Source timestamp and timezone definitions can change the result.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94360" y="4123944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23944"/>
            <a:ext cx="91440" cy="1298448"/>
          </a:xfrm>
          <a:prstGeom prst="rect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88536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Actions per User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59943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actions normalized by active users and weeks. An average can hide concentration.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272784" y="4123944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4123944"/>
            <a:ext cx="91440" cy="1298448"/>
          </a:xfrm>
          <a:prstGeom prst="rect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1384" y="4288536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Non-Microsoft Activity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01384" y="459943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 activity for configured third-party AI tools. It is not an actual prompt count.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Glossary - continued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Risk, coverage, and planning terms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78408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78408"/>
            <a:ext cx="91440" cy="1298448"/>
          </a:xfrm>
          <a:prstGeom prst="rect">
            <a:avLst/>
          </a:prstGeom>
          <a:solidFill>
            <a:srgbClr val="E63B93"/>
          </a:solidFill>
          <a:ln w="12700">
            <a:solidFill>
              <a:srgbClr val="E63B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43000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453896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composite of configured behavioral signals. It is a triage score, not probability, proof, or severity.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272784" y="978408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2784" y="978408"/>
            <a:ext cx="91440" cy="12984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143000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Proximity Event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1384" y="1453896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selected file event shortly after an AI-domain connection. Correlation only; not proof of upload.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94360" y="2551176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51176"/>
            <a:ext cx="91440" cy="1298448"/>
          </a:xfrm>
          <a:prstGeom prst="rect">
            <a:avLst/>
          </a:prstGeom>
          <a:solidFill>
            <a:srgbClr val="E63B93"/>
          </a:solidFill>
          <a:ln w="12700">
            <a:solidFill>
              <a:srgbClr val="E63B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15768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Anomaly Event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02666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country pattern meeting the model rule. VPN, travel, proxies, and routing can create false positives.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272784" y="2551176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2551176"/>
            <a:ext cx="91440" cy="12984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2715768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Upload MB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01384" y="3026664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Discovery network volume attributed to a domain. It does not identify content or prove exfiltration.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94360" y="4123944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23944"/>
            <a:ext cx="91440" cy="1298448"/>
          </a:xfrm>
          <a:prstGeom prst="rect">
            <a:avLst/>
          </a:prstGeom>
          <a:solidFill>
            <a:srgbClr val="E63B93"/>
          </a:solidFill>
          <a:ln w="12700">
            <a:solidFill>
              <a:srgbClr val="E63B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88536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vs Target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59943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minus a locally configured target. The target is an organizational choice, not a Microsoft benchmark.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272784" y="4123944"/>
            <a:ext cx="532180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1430">
            <a:solidFill>
              <a:srgbClr val="D8C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4123944"/>
            <a:ext cx="91440" cy="12984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1384" y="4288536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Label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01384" y="4599432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Verified, exact plus estimated, approximate, or behavioral signal. Use it to calibrate how strongly to state a finding.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targets responsibly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 are local planning assumptions, not Microsoft benchmarks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051560"/>
            <a:ext cx="1627632" cy="457200"/>
          </a:xfrm>
          <a:prstGeom prst="rect">
            <a:avLst/>
          </a:prstGeom>
          <a:solidFill>
            <a:srgbClr val="4B2D8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17957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12848" y="1051560"/>
            <a:ext cx="2889504" cy="457200"/>
          </a:xfrm>
          <a:prstGeom prst="rect">
            <a:avLst/>
          </a:prstGeom>
          <a:solidFill>
            <a:srgbClr val="4B2D8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22576" y="1179576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question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02352" y="1051560"/>
            <a:ext cx="2944368" cy="457200"/>
          </a:xfrm>
          <a:prstGeom prst="rect">
            <a:avLst/>
          </a:prstGeom>
          <a:solidFill>
            <a:srgbClr val="4B2D8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179576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caution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5216" y="1508760"/>
            <a:ext cx="1627632" cy="914400"/>
          </a:xfrm>
          <a:prstGeom prst="rect">
            <a:avLst/>
          </a:prstGeom>
          <a:solidFill>
            <a:srgbClr val="F7F5FA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66420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212848" y="1508760"/>
            <a:ext cx="2889504" cy="914400"/>
          </a:xfrm>
          <a:prstGeom prst="rect">
            <a:avLst/>
          </a:prstGeom>
          <a:solidFill>
            <a:srgbClr val="F7F5FA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2576" y="1664208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observed reach moving toward the locally owned goal?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102352" y="1508760"/>
            <a:ext cx="2944368" cy="914400"/>
          </a:xfrm>
          <a:prstGeom prst="rect">
            <a:avLst/>
          </a:prstGeom>
          <a:solidFill>
            <a:srgbClr val="F7F5FA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664208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denominator and source coverage.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85216" y="2423160"/>
            <a:ext cx="16276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57860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 utilization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212848" y="2423160"/>
            <a:ext cx="288950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22576" y="2578608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licensed users active in the selected period?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102352" y="2423160"/>
            <a:ext cx="29443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578608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observed activity is not proof of never-used.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85216" y="3337560"/>
            <a:ext cx="1627632" cy="914400"/>
          </a:xfrm>
          <a:prstGeom prst="rect">
            <a:avLst/>
          </a:prstGeom>
          <a:solidFill>
            <a:srgbClr val="F7F5FA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49300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Unmanaged AI share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212848" y="3337560"/>
            <a:ext cx="2889504" cy="914400"/>
          </a:xfrm>
          <a:prstGeom prst="rect">
            <a:avLst/>
          </a:prstGeom>
          <a:solidFill>
            <a:srgbClr val="F7F5FA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22576" y="3493008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locally classified shadow activity changing?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102352" y="3337560"/>
            <a:ext cx="2944368" cy="914400"/>
          </a:xfrm>
          <a:prstGeom prst="rect">
            <a:avLst/>
          </a:prstGeom>
          <a:solidFill>
            <a:srgbClr val="F7F5FA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493008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comes from the local catalog.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85216" y="4251960"/>
            <a:ext cx="162763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440740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Logins without CA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212848" y="4251960"/>
            <a:ext cx="2889504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22576" y="4407408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successful sign-ins did not report CA success?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102352" y="4251960"/>
            <a:ext cx="29443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407408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protections may still have applied.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348472" y="1029325"/>
            <a:ext cx="3310128" cy="1854982"/>
          </a:xfrm>
          <a:prstGeom prst="roundRect">
            <a:avLst>
              <a:gd name="adj" fmla="val 1972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36" name="Image 0" descr="C:\Users\luzlorenz\.scout\copilot\session-state\d736585d-e855-42a4-847d-31abb918836c\files\AI-Solutions-Intelligence-Dashboard\images\v27-report-pages\08-benchmarks-targ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1075045"/>
            <a:ext cx="3218688" cy="176354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394192" y="2902595"/>
            <a:ext cx="3218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8394192" y="3255264"/>
            <a:ext cx="3218688" cy="1938528"/>
          </a:xfrm>
          <a:prstGeom prst="roundRect">
            <a:avLst>
              <a:gd name="adj" fmla="val 3774"/>
            </a:avLst>
          </a:prstGeom>
          <a:solidFill>
            <a:srgbClr val="EAF8F7"/>
          </a:solidFill>
          <a:ln w="10160">
            <a:solidFill>
              <a:srgbClr val="E2DD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77072" y="340156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governance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577072" y="3785616"/>
            <a:ext cx="285292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the owner, rationale, review cadence, data period, and action threshold for every target. Keep the definition stable when comparing periods.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58368" y="562356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positive arithmetic gap is not automatically good or bad. Interpret whether higher or lower is desirable for that metric.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first 30 days with this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sequence before operational use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170432"/>
            <a:ext cx="2578608" cy="4434840"/>
          </a:xfrm>
          <a:prstGeom prst="roundRect">
            <a:avLst>
              <a:gd name="adj" fmla="val 2837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70432"/>
            <a:ext cx="2578608" cy="109728"/>
          </a:xfrm>
          <a:prstGeom prst="rect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075688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the data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971800"/>
            <a:ext cx="2029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the 13 CSVs. Check filters, reporting period, source freshness, row counts, identity mappings, and Tier Comparison. Do not present findings yet.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170432"/>
            <a:ext cx="2578608" cy="443484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170432"/>
            <a:ext cx="2578608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6276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48456" y="2075688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 definitions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03320" y="2971800"/>
            <a:ext cx="2029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glossary and confidence labels. Confirm catalog classifications, workforce denominator, target owners, and locally accepted terms.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27648" y="1170432"/>
            <a:ext cx="2578608" cy="4434840"/>
          </a:xfrm>
          <a:prstGeom prst="roundRect">
            <a:avLst>
              <a:gd name="adj" fmla="val 2837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1170432"/>
            <a:ext cx="2578608" cy="109728"/>
          </a:xfrm>
          <a:prstGeom prst="rect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16276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47104" y="2075688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Corroborate signals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01968" y="2971800"/>
            <a:ext cx="2029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representative adoption and risk patterns. Trace them back to source records and document false-positive or coverage scenarios.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26296" y="1170432"/>
            <a:ext cx="2578608" cy="443484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1170432"/>
            <a:ext cx="2578608" cy="109728"/>
          </a:xfrm>
          <a:prstGeom prst="rect">
            <a:avLst/>
          </a:prstGeom>
          <a:solidFill>
            <a:srgbClr val="E63B93"/>
          </a:solidFill>
          <a:ln w="12700">
            <a:solidFill>
              <a:srgbClr val="E63B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5752" y="162763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45752" y="2075688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the review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500616" y="2971800"/>
            <a:ext cx="20299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with the Executive Summary, state coverage and limitations, then move to the relevant detail pages and agreed next actions.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1188720" y="-1737360"/>
            <a:ext cx="6400800" cy="6400800"/>
          </a:xfrm>
          <a:prstGeom prst="arc">
            <a:avLst/>
          </a:prstGeom>
          <a:solidFill>
            <a:srgbClr val="E63B93">
              <a:alpha val="65000"/>
            </a:srgbClr>
          </a:solidFill>
          <a:ln w="12700">
            <a:solidFill>
              <a:srgbClr val="E63B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0">
            <a:off x="7863840" y="2560320"/>
            <a:ext cx="5486400" cy="5486400"/>
          </a:xfrm>
          <a:prstGeom prst="arc">
            <a:avLst/>
          </a:prstGeom>
          <a:solidFill>
            <a:srgbClr val="00A9A5">
              <a:alpha val="75000"/>
            </a:srgbClr>
          </a:solidFill>
          <a:ln w="12700">
            <a:solidFill>
              <a:srgbClr val="00A9A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3957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page interpretation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273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9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dashboard pages | four questions each | one evidence-aware reading path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39512" y="4069080"/>
            <a:ext cx="1709928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0952" y="4224528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Portfolio-level adoption, tool mix, and monthly direction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observed AI adoption broad or concentrated?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Users and workforce adoption show reach within the configured sources and current filters. They are not a complete inventory of every AI interaction.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workforce denominator, active month, and source coverage before quoting the adoption rate.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solution groups are driving activity?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service breakdown separates Copilot, licensed third-party, and shadow classifications using the local catalog and observed activity.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catalog classifications and compare user counts with volume before drawing a governance conclusion.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01-executive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direction sustained across periods?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trends show available report periods. Non-Microsoft prompt figures are modeled from activity/session signals rather than vendor logs.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several complete periods and check filters; do not infer a trend from one partial month.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should the review go next?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page orients the conversation but does not explain surface adoption, department concentration, or individual risk signals.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to Copilot Deep Dive, Shadow AI, and Department Breakdown for the relevant evidence.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Deep Dive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Audit-event-derived activity by surface, user, month, and department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licensed and active users telling the same story?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 Users is an entitlement dimension. Active Users requires observed activity in the selected context; the two values answer different questions.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reporting period and official Microsoft 365 Copilot usage report before a license action.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Copilot surfaces are gaining traction?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counts come from Purview CopilotInteraction audit records and retain the reported surface. They are directional analysis metrics.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surface mix over time and use the pattern to target workload-specific enablement.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02-copilot-deep-d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activity broad or driven by a small group?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per user and department bars can look strong when a small population is highly active. Averages can hide concentration.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active-user counts with prompt volume and inspect department reach before scaling conclusions.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this page support operationally?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 surface enablement and adoption patterns, but audit-derived metrics can differ from official product usage reports.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official usage reporting as the product benchmark and this page for cross-source context.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Behavioral Risk and File Activity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Cross-signal triage for investigation priority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AI Risk Score actually mean?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score is a composite heuristic built from configured signals. It is not a probability, severity rating, or determination of misconduct.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each heatmap column independently, then inspect the contributing events and source quality.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sensitive proximity events prove an upload?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selected file events observed shortly after an AI-domain connection. Temporal proximity does not establish transfer, disclosure, or causation.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original file, device, network, and destination evidence before escalation.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03-behavioral-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geo anomalies be interpreted?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patterns can reflect travel, VPNs, proxies, mobile carriers, or shared infrastructure as well as activity that warrants review.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identity, sign-in, device, and network context; document likely false-positive conditions.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defensible investigation path?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Risk, consent, file, and geo signals prioritize attention but remain incomplete without the underlying source records and business purpose.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established incident, privacy, acceptable-use, legal, and personnel processes.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Shadow AI and Third-Party Tools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activity and local sanction classification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a tool labeled shadow AI?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label comes from the corresponding row in ai_solutions_catalog.csv. The report does not independently prove that the tool violates policy.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 security, legal, privacy, procurement, and business owners confirm classifications.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session bins and estimated prompts exact?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approximate activity from configured telemetry. They are not content inspection and are not equivalent to vendor prompt logs.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them for directional comparison, not precise productivity or data-loss claims.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04-shadow-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unmanaged activity concentrated?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eight starter-solution colors support cross-page tracing; custom catalog additions use the default palette unless explicitly formatted.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values within a column, then check users, departments, and periods before choosing an intervention.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response is proportionate?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tools may need sanctioning review, procurement, user guidance, a supported alternative, or technical control evaluation.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domains and purpose first, then use the organization's governance process.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Solutions Intensity by Department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views of adoption breadth, intensity, and governance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view should I use?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 Intensity compares weekly active days with weekly actions. Adoption vs Governance compares weekly actions per user with the managed-session share.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orange selected view, then use Open filters. Selections remain applied when the panel closes or the view changes.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bubble size add?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 size changes by view: Dept Intensity uses AI Users; Adoption vs Governance uses Sensitive Proximity Events.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risk-event size as a triage signal, not severity or proof, and corroborate the source events.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05-dept-inten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pattern is an enablement opportunity?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Dept Intensity, a large moderate-intensity bubble can indicate broad adoption; a small high-intensity bubble may be a specialist team.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department population and tool mix, then select the department for detail.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follow the visual comparison?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scatter plot identifies contrast but does not explain which tools or users create it.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Department Breakdown and confirm actions, users, solutions, and local business context.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Department Breakdown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Per-department activity, tool diversity, and top services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high activity broad or concentrated?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high action count can come from only a few users. User reach and volume must be read together.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action volume, active users, and weekly actions per user before ranking departments.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greatest growth predict future adoption?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Greatest Growth is a period-over-period result in the current filter context. It is not a forecast.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period completeness and repeat the comparison over several stable windows.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06-department-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might tool sprawl be increasing?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eight starter-solution colors support cross-page tracing; purple table fills show relative values independently within each metric column.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classifications, department mappings, and the users behind each value before comparing departments.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a department action be chosen?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page can support enablement or governance hypotheses but cannot supply the department's business purpose.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pattern with business owners before training, licensing, blocking, or procurement action.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Shadow AI and App Governance 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Defender for Cloud Apps evidence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source coverage does this page require?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Governance alerts and Cloud Discovery traffic require supported Defender for Cloud Apps data, connectors, permissions, and retention.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Tier Comparison and connector scope before interpreting an empty visual.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alert severity be handled?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and descriptions should remain those supplied by the originating alert. The report does not create a new severity determination.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source alert and follow the source-system investigation workflow.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07-shadow-ai-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AI Upload MB prove exfiltration?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network traffic volume attributed by Cloud Discovery. It does not identify transferred content or establish data loss.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 the underlying session, user, device, destination, and content evidence.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might this page be blank?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data can reflect licensing, region, unconfigured connectors, retention, export scope, or header-only placeholder files.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source availability before concluding that no relevant activity or alerts exist.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Benchmarks and Targets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metrics against locally selected what-if assumptions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these Microsoft benchmarks?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The target controls are user-entered planning assumptions chosen by the organization.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each target's owner, rationale, review cadence, and action threshold.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a positive gap always favorable?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cards are arithmetic differences in percentage points or counts. Desired direction depends on the metric.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whether higher or lower is desirable before presenting the gap.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08-benchmarks-targ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logins without CA mean?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counts successful AI sign-ins whose Entra record does not report Conditional Access as successfully applied. Other protections may still exist.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source sign-in and relevant controls before asserting an access-control failure.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month-over-month cards be quoted immediately?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compare the current report period with the prior period available to the measure. A partial month can distort the change.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filter context and period completeness, then use the same definition each review.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Glossary and Data Dictionary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Definitions, source descriptions, and confidence labels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Verified mean?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means calculated from a named source event or dimension. It does not establish intent, causality, or complete tenant coverage.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the metric with its source, reporting period, and relevant limitations.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estimated metrics be stated?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plus estimated mixes source values with modeled activity. Status colors reinforce the visible labels; they do not replace them.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confidence label in screenshots, exports, and executive narration.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09-glossary-data-dictio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review source-table definitions?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describe the report input and calculation path, not guaranteed source availability or completeness in a tenant.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unexpected values back to the CSV, collector, and originating system.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should this page be opened?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whenever a metric will be repeated outside the report or compared across audiences.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definition, confidence, period, filters, and denominator before sharing.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92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Coverage by License and Source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412480" y="38404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aid for available signals and known limitations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722376"/>
            <a:ext cx="11301984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05156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835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1832" y="104241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matrix a licensing entitlement statement?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39903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517904" y="137160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It is a planning aid that maps report capabilities to common product and source combinations.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517904" y="188366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current Microsoft licensing documentation and tenant configuration.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8912" y="2578608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269748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72948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68833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can an owned product still produce no data?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304495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17904" y="3017520"/>
            <a:ext cx="4242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Onboarding, connector selection, permissions, region, policy configuration, export scope, and retention all affect coverage.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76072" y="356616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517904" y="352958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each dependency before interpreting an empty page as no activity.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135624" y="907302"/>
            <a:ext cx="5541264" cy="3077437"/>
          </a:xfrm>
          <a:prstGeom prst="roundRect">
            <a:avLst>
              <a:gd name="adj" fmla="val 1189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22" name="Image 0" descr="C:\Users\luzlorenz\.scout\copilot\session-state\d736585d-e855-42a4-847d-31abb918836c\files\AI-Solutions-Intelligence-Dashboard\images\v27-report-pages\10-tier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953022"/>
            <a:ext cx="5449824" cy="29859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81344" y="4003026"/>
            <a:ext cx="5449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V27 Power BI capture - fabricated sample data</a:t>
            </a:r>
            <a:endParaRPr lang="en-US" sz="620" dirty="0"/>
          </a:p>
        </p:txBody>
      </p:sp>
      <p:sp>
        <p:nvSpPr>
          <p:cNvPr id="24" name="Shape 21"/>
          <p:cNvSpPr/>
          <p:nvPr/>
        </p:nvSpPr>
        <p:spPr>
          <a:xfrm>
            <a:off x="438912" y="4315968"/>
            <a:ext cx="5468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41832" y="44256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sign-in hunting signal require?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6072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517904" y="47548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EntraIdSignInEvents requires Microsoft Entra ID P2 and appropriate Defender XDR advanced hunting access.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576072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517904" y="5449824"/>
            <a:ext cx="4242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role, license, and table availability in the target tenant.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181344" y="4315968"/>
            <a:ext cx="544982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0216" y="4434840"/>
            <a:ext cx="292608" cy="292608"/>
          </a:xfrm>
          <a:prstGeom prst="ellipse">
            <a:avLst/>
          </a:prstGeom>
          <a:solidFill>
            <a:srgbClr val="67A83D"/>
          </a:solidFill>
          <a:ln w="12700">
            <a:solidFill>
              <a:srgbClr val="67A8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4668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4264" y="4425696"/>
            <a:ext cx="4809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CloudAppEvents require?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8504" y="4782312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B2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260336" y="475488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CloudAppEvents requires Defender for Cloud Apps data and its Microsoft 365 activities connector; MDE Plan 2 alone does not supply the table.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6318504" y="548640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A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260336" y="5449824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missing source coverage before drawing conclusions from MDA-dependent visuals.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384048" y="65653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github.com/microsoft/AI-Solutions-Intelligence-Dashboard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720840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V27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74536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26A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Solutions Intelligence Dashboard V27 In Testing - Interpretation Storyboard</dc:title>
  <dc:subject>AI Solutions Intelligence Dashboard V27 interpretation storyboard</dc:subject>
  <dc:creator>Microsoft Scout</dc:creator>
  <cp:lastModifiedBy>Microsoft Scout</cp:lastModifiedBy>
  <cp:revision>1</cp:revision>
  <dcterms:created xsi:type="dcterms:W3CDTF">2026-09-05T07:19:17Z</dcterms:created>
  <dcterms:modified xsi:type="dcterms:W3CDTF">2026-09-05T07:19:17Z</dcterms:modified>
</cp:coreProperties>
</file>